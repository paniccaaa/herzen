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0000"/>
                </a:solidFill>
                <a:latin typeface="Calibri"/>
              </a:rPr>
              <a:t>ВЫПУСКНАЯ КВАЛИФИКАЦИОННАЯ РАБОТА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745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0000"/>
                </a:solidFill>
                <a:latin typeface="Calibri"/>
              </a:rPr>
              <a:t>РАЗРАБОТКА CLI И ВЕБ-ИНТЕРФЕЙСА
ДЛЯ СИСТЕМЫ НАГРУЗОЧНОГО ТЕСТИРОВАНИЯ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8463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D3D3D"/>
                </a:solidFill>
                <a:latin typeface="Calibri"/>
              </a:rPr>
              <a:t>Российский государственный педагогический университет им. А. И. Герцена</a:t>
            </a:r>
          </a:p>
          <a:p>
            <a:pPr algn="ctr"/>
            <a:r>
              <a:rPr sz="1300" b="0" i="0">
                <a:solidFill>
                  <a:srgbClr val="3D3D3D"/>
                </a:solidFill>
                <a:latin typeface="Calibri"/>
              </a:rPr>
              <a:t>Кафедра информационных технологий и электронного обучения</a:t>
            </a:r>
          </a:p>
          <a:p>
            <a:pPr algn="ctr"/>
            <a:r>
              <a:rPr sz="1300" b="0" i="0">
                <a:solidFill>
                  <a:srgbClr val="3D3D3D"/>
                </a:solidFill>
                <a:latin typeface="Calibri"/>
              </a:rPr>
              <a:t>09.03.01 Информатика и вычислительная техника</a:t>
            </a:r>
          </a:p>
          <a:p>
            <a:pPr algn="ctr"/>
            <a:r>
              <a:rPr sz="13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ctr"/>
            <a:r>
              <a:rPr sz="1300" b="0" i="0">
                <a:solidFill>
                  <a:srgbClr val="3D3D3D"/>
                </a:solidFill>
                <a:latin typeface="Calibri"/>
              </a:rPr>
              <a:t>Адаменко Семён Сергеевич</a:t>
            </a:r>
          </a:p>
          <a:p>
            <a:pPr algn="ctr"/>
            <a:r>
              <a:rPr sz="1300" b="0" i="0">
                <a:solidFill>
                  <a:srgbClr val="3D3D3D"/>
                </a:solidFill>
                <a:latin typeface="Calibri"/>
              </a:rPr>
              <a:t>Научный руководитель: Государев И. Б., к.п.н., доцент</a:t>
            </a:r>
          </a:p>
          <a:p>
            <a:pPr algn="ctr"/>
            <a:r>
              <a:rPr sz="1300" b="0" i="0">
                <a:solidFill>
                  <a:srgbClr val="3D3D3D"/>
                </a:solidFill>
                <a:latin typeface="Calibri"/>
              </a:rPr>
              <a:t>Санкт-Петербург,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Актуальность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Calibri"/>
              </a:rPr>
              <a:t>Нагрузочное тестирование — обязательный этап обеспечения качества современных веб-сервисов.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Существующие инструменты имеют ограничения: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Apache JMeter, Gatling — требуют JVM (зависимость от среды выполнения)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k6 — требует JavaScript-рантайма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Vegeta, hey — поддерживают только HTTP, нет веб-интерфейса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Нет инструмента, совмещающего: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единый бинарный файл без зависимостей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поддержку HTTP и gRPC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встроенный веб-интерфейс с реальным временем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интеграцию в CI/CD через REST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Предмет и объект исследования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Объект исследования: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Процесс нагрузочного тестирования HTTP и gRPC сервисов.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Предмет исследования: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Программные методы разработки CLI и веб-интерфейса инструмента нагрузочного тестирования с поддержкой HTTP и gRPC.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Цель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Разработать инструмент нагрузочного тестирования Tsunami, распространяемый в виде единого бинарного файла без внешних зависимостей и обеспечивающий: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поддержку HTTP и gRPC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встроенный веб-интерфейс с реальным временем обновления метрик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интеграцию в CI/CD-пайплайны через REST API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кросс-платформенную дистрибуцию для 6 платформ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Провести сравнительный анализ существующих инструментов нагрузочного тестирования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Сформулировать функциональные и нефункциональные требования к разрабатываемому инструменту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Спроектировать архитектуру системы: движок нагрузочного тестирования, CLI-слой и серверную часть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Реализовать модуль нагрузочного тестирования с поддержкой HTTP и gRPC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Реализовать CLI-интерфейс и веб-интерфейс для управления тестами и мониторинга метрик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Провести тестирование и оценить производительность разработанного инструмента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Обзор существующих инструментов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1798320" cy="666205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Инструмент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240" y="1554480"/>
            <a:ext cx="1798320" cy="666205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Протоколы</a:t>
            </a:r>
          </a:p>
        </p:txBody>
      </p:sp>
      <p:sp>
        <p:nvSpPr>
          <p:cNvPr id="6" name="Rectangle 5"/>
          <p:cNvSpPr/>
          <p:nvPr/>
        </p:nvSpPr>
        <p:spPr>
          <a:xfrm>
            <a:off x="4099560" y="1554480"/>
            <a:ext cx="1798320" cy="666205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Веб-интерфейс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1554480"/>
            <a:ext cx="1798320" cy="666205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Зависимости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6200" y="1554480"/>
            <a:ext cx="1798320" cy="666205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CI/CD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9494520" y="1554480"/>
            <a:ext cx="1798320" cy="666205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Дистрибуция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20685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Apache JMeter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1240" y="2220685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HTTP, gRPC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99560" y="2220685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Есть (GUI)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2220685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JVM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200" y="2220685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94520" y="2220685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JAR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6891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Gatling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1240" y="2886891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HTTP, gRPC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99560" y="2886891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 (отчёты)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2886891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JVM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96200" y="2886891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94520" y="2886891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JAR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53097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k6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1240" y="3553097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HTTP, gRPC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99560" y="3553097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97880" y="3553097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JS-рантайм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96200" y="3553097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Есть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94520" y="3553097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Бинарь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19302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Vegeta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1240" y="4219302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HTTP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99560" y="4219302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97880" y="4219302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6200" y="4219302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94520" y="4219302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Бинарь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885508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hey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01240" y="4885508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HTTP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99560" y="4885508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7880" y="4885508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96200" y="4885508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94520" y="4885508"/>
            <a:ext cx="1798320" cy="666205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Бинарь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551714"/>
            <a:ext cx="1798320" cy="66620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Tsunami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1240" y="5551714"/>
            <a:ext cx="1798320" cy="66620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HTTP, gRPC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99560" y="5551714"/>
            <a:ext cx="1798320" cy="66620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Есть (SPA)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97880" y="5551714"/>
            <a:ext cx="1798320" cy="66620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Нет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6200" y="5551714"/>
            <a:ext cx="1798320" cy="66620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Есть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94520" y="5551714"/>
            <a:ext cx="1798320" cy="666205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Бинарь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D3D3D"/>
                </a:solidFill>
                <a:latin typeface="Calibri"/>
              </a:rPr>
              <a:t>Ни один из рассмотренных инструментов не закрывает все критерии одновременно.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Требования к системе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Функциональные требования: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Отправка HTTP/gRPC запросов с заданной частотой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Настройка метода, заголовков, тела запроса, таймаута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Сбор метрик: перцентили p50/p90/p95/p99, статус-коды, ошибки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Веб-интерфейс с реальным временем обновления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REST API для управления тестом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Нефункциональные требования: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Производительность ≥ 1 000 RPS при 50 воркерах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Поставка единым бинарным файлом (CGO_ENABLED=0)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Поддержка Linux, macOS, Windows (amd64, arm64)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Задержка WebSocket-трансляции не более 100 мс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Архитектура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D3D3D"/>
                </a:solidFill>
                <a:latin typeface="Calibri"/>
              </a:rPr>
              <a:t>Трёхуровневая архитектура со слабой связностью компонентов: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CLI-уровень (Cobra)  —  команды attack, serve, grpc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Движок нагрузочного тестирования (internal/attack)  —  worker pool, rate limiter, GlobalMetrics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HTTP-сервер + WebSocket-хаб (cmd/server)  —  REST API, стриминг метрик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React SPA (frontend)  —  встроен в бинарь через go:embed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CLI и HTTP-сервер разделяют единый движок, не зная друг о друге.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Выбор технологий и обоснование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2697480" cy="718457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Компонент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554480"/>
            <a:ext cx="2697480" cy="718457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Технология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1554480"/>
            <a:ext cx="2697480" cy="718457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Альтернативы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554480"/>
            <a:ext cx="2697480" cy="718457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Преимущество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72937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Язык бэкенда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272937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Go 1.24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2272937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Python, Rust, Java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272937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Горутины, статическая компиляция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91394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CLI-фреймворк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991394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Cobra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991394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urfave/cli,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991394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Иерархические подкоманды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09851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Rate limiting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709851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uber/ratelimit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3709851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time.Ticker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709851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Leaky bucket, точность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28308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WebSocket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428308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gorilla/websocket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97880" y="4428308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nhooyr.io/websocket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4428308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Зрелость, Hub-паттерн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46765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Фронтенд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5146765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React + Recharts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5146765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Vue, Angular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5146765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Экосистема, SVG-графики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865222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Сборка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5865222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GoReleaser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97880" y="5865222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Makefile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5865222"/>
            <a:ext cx="269748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Кросс-компиляция, Homebrew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Реализация движка нагрузочного тестирования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Worker pool: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N горутин (по умолчанию 50) параллельно потребляют задания из канала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Rate limiter: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Алгоритм «дырявого ведра» (go.uber.org/ratelimit) — равномерный поток запросов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Сбор метрик — GlobalMetrics: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Потокобезопасная структура с sync.Mutex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Кольцевой буфер: 100 000 замеров задержки → постоянный расход памяти (~800 КБ)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Перцентили p50, p90, p95, p99 посредством однократной сортировки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Классификация ошибок: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5 типов: Timeout, ConnectionRefused, DNS, TLS, Other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Реализация CLI-интерфейса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Три подкоманды Cobra: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tsunami attack  —  HTTP нагрузочный тест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tsunami serve   —  запуск HTTP-сервера с веб-интерфейсом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tsunami grpc    —  gRPC нагрузочный тест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Ключевые флаги attack: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-u  URL цели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-r  интенсивность запросов: 100/1s, 50/500ms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-d  длительность теста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-w  количество воркеров, -m HTTP-метод, -H заголовки, -b тело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Graceful shutdown: по SIGINT тест корректно завершается с выводом итоговых метрик.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Реализация веб-интерфейса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React SPA (React 18 + TypeScript + Recharts + Tailwind):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Графики задержки с перцентилями p50/p90/p95/p99 в реальном времени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Распределение статус-кодов и типов ошибок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Форма конфигурации, кнопки запуска и остановки теста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REST API — 8 эндпоинтов: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POST /api/attack/start — запуск теста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POST /api/attack/stop  — остановка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GET  /api/attack/status — текущие метрики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GET  /api/attack/results/download — экспорт JSON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Встраивание в бинарь: //go:embed dist — внешние статические активы не нужны.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Стриминг метрик через WebSocket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Hub-паттерн: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Центральный Hub рассылает сообщения всем подключённым клиентам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Интервал обновления 50 мс — метрики обновляются 20 раз в секунду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Автоматическое переподключение браузера при разрыве соединения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Состояния сессии TestSession: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Idle → Running → Completed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Idle → Running → Stopped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Idle → Running → Error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Тестирование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Юнит-тесты (internal/attack/helpers_test.go):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13 тест-кейсов вычисления перцентилей p50, p90, p95, p99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Граничные случаи: пустой срез, один элемент, равные значения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Интеграционные тесты (tests/integration/):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Запуск реального Docker-контейнера httpbin через testcontainers-go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TestRunAttack_BasicSuccess — проверка успешных запросов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TestRunAttack_TimeoutClassification — классификация ошибок таймаута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Верификация: количество запросов, задержки, статус-коды, типы ошибок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3D3D3D"/>
                </a:solidFill>
                <a:latin typeface="Calibri"/>
              </a:rPr>
              <a:t>Все тесты проходят в среде GitHub Actions CI.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CI/CD и дистрибуция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GitHub Actions — CI Pipeline: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Unit Tests → Integration Tests → Build → (tag) → Release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GoReleaser — Release Pipeline: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Кросс-компиляция: Linux / macOS / Windows × amd64 / arm64 = 6 платформ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Артефакты: tar.gz (Unix), zip (Windows), checksums.txt (SHA256)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Способы установки: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GitHub Releases — прямая загрузка бинаря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Homebrew: brew install paniccaaa/tap/tsunami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Docker Compose: docker-compose up --build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Сборка из исходников: git clone &amp;&amp; make build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Результаты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5394960" cy="718457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Показатель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897880" y="1554480"/>
            <a:ext cx="5394960" cy="718457"/>
          </a:xfrm>
          <a:prstGeom prst="rect">
            <a:avLst/>
          </a:prstGeom>
          <a:solidFill>
            <a:srgbClr val="E8E8E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Значение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72937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Производительность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7880" y="2272937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&gt; 1 000 RPS при 50 параллельных воркерах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91394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Платформы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2991394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6 платформ (Linux / macOS / Windows, amd64 / arm64)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09851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Размер бинаря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3709851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~12 МБ (включая встроенный React SPA)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428308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Задержка WebSocket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4428308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50 мс (20 обновлений в секунду)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46765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Дистрибуция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5146765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GitHub Releases, Homebrew, Docker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65222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Покрытие тестами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5865222"/>
            <a:ext cx="5394960" cy="718457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13 юнит-тестов + интеграционные тесты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0000"/>
                </a:solidFill>
                <a:latin typeface="Calibri"/>
              </a:rP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325880"/>
            <a:ext cx="1078992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Основные итоги: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Разработан инструмент Tsunami, устраняющий ограничения существующих решений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Трёхуровневая архитектура обеспечивает слабую связность и независимое использование CLI и веб-интерфейса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Инструмент готов к применению инженерами по качеству и DevOps-специалистами</a:t>
            </a:r>
          </a:p>
          <a:p>
            <a:pPr algn="l"/>
            <a:r>
              <a:rPr sz="600" b="0" i="0">
                <a:solidFill>
                  <a:srgbClr val="3D3D3D"/>
                </a:solidFill>
                <a:latin typeface="Calibr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500" b="1" i="0">
                <a:solidFill>
                  <a:srgbClr val="000000"/>
                </a:solidFill>
                <a:latin typeface="Calibri"/>
              </a:rPr>
              <a:t>Направления развития: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Сценарное тестирование с переменной интенсивностью нагрузки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Интеграция с OpenTelemetry для распределённой трассировки</a:t>
            </a:r>
          </a:p>
          <a:p>
            <a:pPr algn="l" marL="274320" indent="-228600">
              <a:buChar char="●"/>
              <a:buClr>
                <a:srgbClr val="AAAAAA"/>
              </a:buClr>
            </a:pPr>
            <a:r>
              <a:rPr sz="1400">
                <a:solidFill>
                  <a:srgbClr val="3D3D3D"/>
                </a:solidFill>
                <a:latin typeface="Calibri"/>
              </a:rPr>
              <a:t>Распределённый режим с несколькими агентами-генераторами нагрузки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